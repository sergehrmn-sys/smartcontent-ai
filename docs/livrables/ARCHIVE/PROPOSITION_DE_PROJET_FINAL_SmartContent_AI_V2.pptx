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F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00255" y="0"/>
            <a:ext cx="914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2100255" y="6812280"/>
            <a:ext cx="9144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446520"/>
            <a:ext cx="11277295" cy="10973"/>
          </a:xfrm>
          <a:prstGeom prst="rect">
            <a:avLst/>
          </a:prstGeom>
          <a:solidFill>
            <a:srgbClr val="2A30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projet final · V2 SaaS déployé · Serge Tsebo · Mai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914400"/>
            <a:ext cx="1554480" cy="1554480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381000" dist="50800" dir="5400000">
              <a:srgbClr val="4ade80">
                <a:alpha val="5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128016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606040"/>
            <a:ext cx="12191695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27432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spc="6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LIVRÉ EN PRODUCTION  ·  MISE À JOUR V2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32461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 AI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914400" y="41605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SaaS de génération et publication automatique de contenu marketing IA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4800600"/>
            <a:ext cx="9448495" cy="91440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554480" y="4937760"/>
            <a:ext cx="9082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Live : </a:t>
            </a:r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smartcontent-ai.streamlit.app</a:t>
            </a:r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💻 Code : </a:t>
            </a:r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github.com/sergehrmn-sys/smartcontent-ai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SERGE TSEBO  ·  AEC Intelligence Artificielle Appliquée  ·  Collège Multihexa  ·  Mai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CONSTAT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observé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facteurs bloquent la présence en ligne des PME québécoises. Notre solution les adresse tous les trois.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76218" cy="40233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" cy="402336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231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15468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temps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31190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PME consacre moins de 5 h / semaine au marketing.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12 posts adaptés demande 4 à 6 h de travail manuel.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Résolu : 90 secondes avec SmartContent AI.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7738" y="2194560"/>
            <a:ext cx="3576218" cy="40233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7738" y="2194560"/>
            <a:ext cx="54864" cy="40233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98" y="242316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82058" y="315468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compétences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82058" y="3611880"/>
            <a:ext cx="31190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 multi-plateformes exige la maîtrise des codes propres à chaque réseau.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Résolu : 12 prompts spécialisés GPT-4o adaptés par plateforme.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66837" y="2194560"/>
            <a:ext cx="3576218" cy="40233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66837" y="2194560"/>
            <a:ext cx="54864" cy="402336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597" y="242316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41157" y="3154680"/>
            <a:ext cx="31190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des agences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341157" y="3611880"/>
            <a:ext cx="31190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marketing : 1 500 à 4 000 $ CAD / mois.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Ingérable pour la majorité des PME.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Résolu : 0,22 $ CAD par campagne complète.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TECHNOLOGIES INTÉGRÉES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mobilisée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91440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544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 IA et cloud </a:t>
            </a:r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intégrés pour couvrir l'ensemble du pipeline marketing : génération, persistance, orchestration, livraison.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1349" y="2971800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prompts spécialisés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JSON natif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18145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18145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854" y="2971800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18145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855305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3 formats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Parallèle ~18s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87651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87651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360" y="2971800"/>
            <a:ext cx="585216" cy="5852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87651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5024811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visuel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publishers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057156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57156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865" y="2971800"/>
            <a:ext cx="585216" cy="5852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57156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194316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JSONB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RLS prêt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226662" y="2743200"/>
            <a:ext cx="2050633" cy="32918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226662" y="2743200"/>
            <a:ext cx="54864" cy="32918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9370" y="2971800"/>
            <a:ext cx="585216" cy="58521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26662" y="3657600"/>
            <a:ext cx="20506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1700" dirty="0"/>
          </a:p>
        </p:txBody>
      </p:sp>
      <p:sp>
        <p:nvSpPr>
          <p:cNvPr id="31" name="Text 24"/>
          <p:cNvSpPr/>
          <p:nvPr/>
        </p:nvSpPr>
        <p:spPr>
          <a:xfrm>
            <a:off x="9363822" y="4160520"/>
            <a:ext cx="177631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email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3000/mois gratuits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48640" y="6217920"/>
            <a:ext cx="11094415" cy="36576"/>
          </a:xfrm>
          <a:prstGeom prst="rect">
            <a:avLst/>
          </a:prstGeom>
          <a:solidFill>
            <a:srgbClr val="7C3AED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LIVRABLES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livré (et plus)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4415" cy="137160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idée → </a:t>
            </a:r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posts adaptés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visuels DALL-E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n8n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automatique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pour </a:t>
            </a:r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0,22 $ CAD</a:t>
            </a:r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campagne.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5455768" cy="3017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00400"/>
            <a:ext cx="54864" cy="3017520"/>
          </a:xfrm>
          <a:prstGeom prst="rect">
            <a:avLst/>
          </a:prstGeom>
          <a:solidFill>
            <a:srgbClr val="4ADE8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3832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38328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livré comme prévu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49985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bcrypt + JWT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GPT-4o (12 prompts spécialisés)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(3 formats parallèles)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(17 nœuds, Switch routing)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Streamlit premium responsive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87288" y="3200400"/>
            <a:ext cx="5455768" cy="3017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87288" y="3200400"/>
            <a:ext cx="54864" cy="301752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608" y="33832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55968" y="3383280"/>
            <a:ext cx="444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livré en plus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61608" y="4023360"/>
            <a:ext cx="49985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Déploiement cloud complet (Railway + Streamlit Cloud)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n8n cloud (Primary + Worker + Postgres + Redis)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Email automatique via Resend (livraison validée)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9 vagues de polish UI (18 modules CSS)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Documentation complète (mémoire + 4 decks)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TOUT EST EN LIGNE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déployée en production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 cloud distribués. Aucune dépendance locale. Disponibilité 24/7.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00888" y="2468880"/>
            <a:ext cx="2011680" cy="26517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00888" y="2468880"/>
            <a:ext cx="54864" cy="265176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120" y="2697480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0888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6608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smartcontent-ai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.streamlit.app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651864" y="4846320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9"/>
          <p:cNvSpPr/>
          <p:nvPr/>
        </p:nvSpPr>
        <p:spPr>
          <a:xfrm>
            <a:off x="2730856" y="32918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895448" y="2468880"/>
            <a:ext cx="2011680" cy="26517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95448" y="2468880"/>
            <a:ext cx="54864" cy="26517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680" y="2697480"/>
            <a:ext cx="585216" cy="5852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95448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Railway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941168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web-production-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71b032.up.railway.app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846424" y="4846320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9" name="Text 15"/>
          <p:cNvSpPr/>
          <p:nvPr/>
        </p:nvSpPr>
        <p:spPr>
          <a:xfrm>
            <a:off x="4925416" y="32918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5090008" y="2468880"/>
            <a:ext cx="2011680" cy="26517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90008" y="2468880"/>
            <a:ext cx="54864" cy="2651760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2697480"/>
            <a:ext cx="585216" cy="58521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90008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135728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+ DALL-E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040984" y="4846320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6" name="Text 21"/>
          <p:cNvSpPr/>
          <p:nvPr/>
        </p:nvSpPr>
        <p:spPr>
          <a:xfrm>
            <a:off x="7119976" y="32918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7284568" y="2468880"/>
            <a:ext cx="2011680" cy="26517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284568" y="2468880"/>
            <a:ext cx="54864" cy="26517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7800" y="2697480"/>
            <a:ext cx="585216" cy="58521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84568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330288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JSONB hébergé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8235544" y="4846320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3" name="Text 27"/>
          <p:cNvSpPr/>
          <p:nvPr/>
        </p:nvSpPr>
        <p:spPr>
          <a:xfrm>
            <a:off x="9314536" y="32918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28"/>
          <p:cNvSpPr/>
          <p:nvPr/>
        </p:nvSpPr>
        <p:spPr>
          <a:xfrm>
            <a:off x="9479128" y="2468880"/>
            <a:ext cx="2011680" cy="265176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479128" y="2468880"/>
            <a:ext cx="54864" cy="265176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360" y="2697480"/>
            <a:ext cx="585216" cy="58521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479128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Railway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9524848" y="379476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primary-production-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96d7d.up.railway.app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10430104" y="4846320"/>
            <a:ext cx="109728" cy="109728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0" name="Shape 33"/>
          <p:cNvSpPr/>
          <p:nvPr/>
        </p:nvSpPr>
        <p:spPr>
          <a:xfrm>
            <a:off x="548640" y="5394960"/>
            <a:ext cx="11094415" cy="777240"/>
          </a:xfrm>
          <a:prstGeom prst="rect">
            <a:avLst/>
          </a:prstGeom>
          <a:solidFill>
            <a:srgbClr val="1F1B3A"/>
          </a:solidFill>
          <a:ln w="9525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777240" y="548640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 end-to-end mesuré :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12 plateformes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90 s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workflow n8n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ms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email Resend </a:t>
            </a:r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 dans Yahoo Mail 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DIFFÉRENCIATION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final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 AI est désormais le seul outil de cette liste qui combine génération + 12 plateformes + email automatique au prix pay-per-use.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4415" cy="502920"/>
          </a:xfrm>
          <a:prstGeom prst="rect">
            <a:avLst/>
          </a:prstGeom>
          <a:solidFill>
            <a:srgbClr val="7C3AED"/>
          </a:solidFill>
          <a:ln w="9525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148840"/>
            <a:ext cx="1739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07843" y="2148840"/>
            <a:ext cx="1406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GÉN. TEXTE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1061" y="2148840"/>
            <a:ext cx="14069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GÉN.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14279" y="2148840"/>
            <a:ext cx="2072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MULTI-PLATEFORMES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33162" y="2148840"/>
            <a:ext cx="129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275436" y="2148840"/>
            <a:ext cx="22944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/ MOIS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11094415" cy="411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27157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Hootsuite Pro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07843" y="27157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1061" y="27157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14279" y="27157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33162" y="27157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75436" y="27157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99 $ USD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72968"/>
            <a:ext cx="11094415" cy="411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31729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Jasper.ai Creator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07843" y="31729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61061" y="31729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14279" y="31729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33162" y="31729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75436" y="31729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49 $ USD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630168"/>
            <a:ext cx="11094415" cy="411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" y="36301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Predis.ai Solo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07843" y="36301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061061" y="36301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14279" y="36301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plateformes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33162" y="36301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75436" y="36301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32 $ USD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087368"/>
            <a:ext cx="11094415" cy="41148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1792" y="40873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ContentStudio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07843" y="40873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61061" y="40873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14279" y="40873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plateformes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33162" y="40873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75436" y="40873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49 $ USD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544568"/>
            <a:ext cx="11094415" cy="411480"/>
          </a:xfrm>
          <a:prstGeom prst="rect">
            <a:avLst/>
          </a:prstGeom>
          <a:solidFill>
            <a:srgbClr val="1F1B3A"/>
          </a:solidFill>
          <a:ln w="9525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21792" y="4544568"/>
            <a:ext cx="1739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 AI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07843" y="45445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spécial.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061061" y="4544568"/>
            <a:ext cx="1406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14279" y="4544568"/>
            <a:ext cx="20725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33162" y="4544568"/>
            <a:ext cx="1295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275436" y="4544568"/>
            <a:ext cx="229446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0,22 $ / camp.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77240" y="560527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commercial validé : </a:t>
            </a:r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à 0,22 $ ou abonnement rentable dès la 28e campagne / mois sur le plan Starter (29 $).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100% TERMINÉ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— 7 semaines complétées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Shape 5"/>
          <p:cNvSpPr/>
          <p:nvPr/>
        </p:nvSpPr>
        <p:spPr>
          <a:xfrm>
            <a:off x="1027590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102759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323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1323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auth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132365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Python 3.14, FastAPI, Supabase. Schéma SQL. Auth bcrypt + JWT.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6619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6619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5569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2625569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38059" y="2514600"/>
            <a:ext cx="1323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38059" y="2880360"/>
            <a:ext cx="1323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OpenAI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38059" y="3383280"/>
            <a:ext cx="132365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prompts spécialisés par plateforme. Mode JSON natif. Tests unitaires des parseurs.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4599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4599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1" name="Shape 19"/>
          <p:cNvSpPr/>
          <p:nvPr/>
        </p:nvSpPr>
        <p:spPr>
          <a:xfrm>
            <a:off x="4223548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422354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36039" y="2514600"/>
            <a:ext cx="1323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36039" y="2880360"/>
            <a:ext cx="1323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MVP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36039" y="3383280"/>
            <a:ext cx="132365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basique : auth, formulaire, affichage tabs. Persistance Supabase.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42578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42578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8" name="Shape 26"/>
          <p:cNvSpPr/>
          <p:nvPr/>
        </p:nvSpPr>
        <p:spPr>
          <a:xfrm>
            <a:off x="5821528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9" name="Text 27"/>
          <p:cNvSpPr/>
          <p:nvPr/>
        </p:nvSpPr>
        <p:spPr>
          <a:xfrm>
            <a:off x="582152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34018" y="2514600"/>
            <a:ext cx="1323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34018" y="2880360"/>
            <a:ext cx="1323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+ n8n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34018" y="3383280"/>
            <a:ext cx="132365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3 images parallèles. Import workflow n8n 17 nœuds. Test publication mock.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40557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40557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5" name="Shape 33"/>
          <p:cNvSpPr/>
          <p:nvPr/>
        </p:nvSpPr>
        <p:spPr>
          <a:xfrm>
            <a:off x="7419507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36" name="Text 34"/>
          <p:cNvSpPr/>
          <p:nvPr/>
        </p:nvSpPr>
        <p:spPr>
          <a:xfrm>
            <a:off x="7419507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031997" y="2514600"/>
            <a:ext cx="1323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31997" y="2880360"/>
            <a:ext cx="1323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UI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31997" y="3383280"/>
            <a:ext cx="132365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modules CSS, cartes premium par plateforme, animations, responsive desktop/mobile.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38537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538537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2" name="Shape 40"/>
          <p:cNvSpPr/>
          <p:nvPr/>
        </p:nvSpPr>
        <p:spPr>
          <a:xfrm>
            <a:off x="9017486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3" name="Text 41"/>
          <p:cNvSpPr/>
          <p:nvPr/>
        </p:nvSpPr>
        <p:spPr>
          <a:xfrm>
            <a:off x="901748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629977" y="2514600"/>
            <a:ext cx="1323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29977" y="2880360"/>
            <a:ext cx="1323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629977" y="3383280"/>
            <a:ext cx="132365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charges, schémas UML, README pro, push GitHub.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136516" y="1691640"/>
            <a:ext cx="1506539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136516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15466" y="1874520"/>
            <a:ext cx="548640" cy="5486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50" name="Text 48"/>
          <p:cNvSpPr/>
          <p:nvPr/>
        </p:nvSpPr>
        <p:spPr>
          <a:xfrm>
            <a:off x="1061546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0227956" y="2514600"/>
            <a:ext cx="13236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227956" y="2880360"/>
            <a:ext cx="13236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Soutenance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227956" y="3383280"/>
            <a:ext cx="132365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Railway + Streamlit Cloud + Resend. Mémoire + decks. Vidéo démo.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LESSONS LEARNED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anticipés — tous maîtrisés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risques principaux ont été identifiés avant projet et tous résolus avec succès.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" cy="1874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INITIAL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OpenAI indisponible ou prix qui change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4472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Architecture découplée maintenue. Backup Claude possible en une journée si besoin.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5848" y="21945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5848" y="2194560"/>
            <a:ext cx="54864" cy="1874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8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INITIAL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4448" y="26060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d'apprentissage trop ambitieux pour 7 semaines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4448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34472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MVP livré en S1-S4, polish + cloud + doc en S5-S7. Aucun retard sur le planning.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251960"/>
            <a:ext cx="54864" cy="1874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INITIAL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6634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trop complexe à débugger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55046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Migré sur n8n cloud Railway avec workers, mode production stable, 161 ms par exécution.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5848" y="4251960"/>
            <a:ext cx="5364328" cy="187452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95848" y="4251960"/>
            <a:ext cx="54864" cy="18745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8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INITIAL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24448" y="466344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de coûts OpenAI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4448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24448" y="5504688"/>
            <a:ext cx="4907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Cible 0,22 $/campagne respectée. Plafond budgétaire de 30 $ jamais atteint.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OBJECTIFS DÉPASSÉS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et critères de succès — 61/61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55768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LIVRABLES REMIS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remis au jury et accessibles en ligne.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GitHub (5 200 lignes)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live (smartcontent-ai.streamlit.app)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écrit — 52 pages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détaillé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schémas UML d'architecture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PowerPoint soutenance (20 slides)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(12 slides)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vidéo démo + storyboard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7288" y="1691640"/>
            <a:ext cx="5455768" cy="45720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87288" y="1691640"/>
            <a:ext cx="54864" cy="4572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6415888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CRITÈRES DE SUCCÈS ATTEINTS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15888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Mesurés et observables en production cloud.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15888" y="269748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plateformes générées en ≤ 90 s 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images DALL-E parallèles en ~18 s 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mesuré : 0,22 $ CAD / campagne 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responsive 1024 / 768 / 640 px 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n8n : 161 ms 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bcrypt + JWT fonctionnelle 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Resend livré dans Yahoo Mail 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testé end-to-end ✓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long terme — au-delà du MVP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académique est conçu comme la base d'un produit commercial déployable sur 9 à 12 mois.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76218" cy="4114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94560"/>
            <a:ext cx="54864" cy="4114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 · ✅ Livré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 CLOUD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actuel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914400" cy="10973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9476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Streamlit Cloud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 Railway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 (Primary + Worker)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Resend automatique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accessible 24/7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4114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7738" y="2194560"/>
            <a:ext cx="54864" cy="4114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4582058" y="237744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82058" y="2697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ENRICHISSEMENT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82058" y="32004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réelle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82058" y="3611880"/>
            <a:ext cx="91440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82058" y="379476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LinkedIn / Meta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marketing 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vidéo (Runway / Veo)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off ElevenLabs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post-publication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66837" y="2194560"/>
            <a:ext cx="3576218" cy="41148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6837" y="2194560"/>
            <a:ext cx="54864" cy="4114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8341157" y="237744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41157" y="2697480"/>
            <a:ext cx="3119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COMMERCIAL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41157" y="320040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SaaS payant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41157" y="3611880"/>
            <a:ext cx="91440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8341157" y="3794760"/>
            <a:ext cx="311901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Next.js + PWA mobile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(Free / 29 / 79 / 199 $)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Loi 25 + RGPD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agences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 partenaires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solidFill>
            <a:srgbClr val="1F1B3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1 ACTIF · 11 ENVISAGÉES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d'intégrations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modulaire facilite l'ajout de services tiers. Premier service activé : Resend pour la livraison email.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76218" cy="42062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54864" cy="4206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4028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731520" cy="10973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80720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306324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profils + pages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58444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Graph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84048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+ Instagram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36168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Business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61772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officielle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512064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513892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API v2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539496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programmés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07738" y="2103120"/>
            <a:ext cx="3576218" cy="42062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7738" y="2103120"/>
            <a:ext cx="54864" cy="4206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4536338" y="224028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CONTENU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36338" y="2606040"/>
            <a:ext cx="731520" cy="10973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Shape 28"/>
          <p:cNvSpPr/>
          <p:nvPr/>
        </p:nvSpPr>
        <p:spPr>
          <a:xfrm>
            <a:off x="4582058" y="278892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205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22138" y="280720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22138" y="306324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textes + qualité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82058" y="356616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205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♬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22138" y="358444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22138" y="384048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Voix off vidéos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82058" y="434340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82058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22138" y="436168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ML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22138" y="461772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courtes IA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82058" y="512064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82058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22138" y="513892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222138" y="539496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self-hosted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66837" y="2103120"/>
            <a:ext cx="3576218" cy="420624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66837" y="2103120"/>
            <a:ext cx="54864" cy="42062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8" name="Text 46"/>
          <p:cNvSpPr/>
          <p:nvPr/>
        </p:nvSpPr>
        <p:spPr>
          <a:xfrm>
            <a:off x="8295437" y="2240280"/>
            <a:ext cx="3119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· ✅ ACTIF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95437" y="2606040"/>
            <a:ext cx="731520" cy="10973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50" name="Shape 48"/>
          <p:cNvSpPr/>
          <p:nvPr/>
        </p:nvSpPr>
        <p:spPr>
          <a:xfrm>
            <a:off x="8341157" y="2788920"/>
            <a:ext cx="502920" cy="502920"/>
          </a:xfrm>
          <a:prstGeom prst="ellipse">
            <a:avLst/>
          </a:prstGeom>
          <a:solidFill>
            <a:srgbClr val="4ADE80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41157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981237" y="280720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✅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981237" y="306324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livré (actif)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341157" y="356616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41157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981237" y="358444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981237" y="384048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SaaS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341157" y="434340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41157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981237" y="436168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981237" y="461772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posts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341157" y="5120640"/>
            <a:ext cx="502920" cy="502920"/>
          </a:xfrm>
          <a:prstGeom prst="ellipse">
            <a:avLst/>
          </a:prstGeom>
          <a:solidFill>
            <a:srgbClr val="242A3D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41157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981237" y="5138928"/>
            <a:ext cx="2478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8981237" y="5394960"/>
            <a:ext cx="2478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+ conversions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1448" y="731520"/>
            <a:ext cx="1828800" cy="1828800"/>
          </a:xfrm>
          <a:prstGeom prst="ellipse">
            <a:avLst/>
          </a:prstGeom>
          <a:solidFill>
            <a:srgbClr val="4ADE80"/>
          </a:solidFill>
          <a:ln/>
          <a:effectLst>
            <a:outerShdw sx="100000" sy="100000" kx="0" ky="0" algn="bl" rotWithShape="0" blurRad="508000" dist="50800" dir="5400000">
              <a:srgbClr val="4ade80">
                <a:alpha val="5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114300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8892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livré · 61/61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cibles initiales atteintes, plus le bonus déploiement cloud + email.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389120"/>
            <a:ext cx="2682164" cy="1371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438912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4480560"/>
            <a:ext cx="2682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5 200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516636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49676" y="4389120"/>
            <a:ext cx="2682164" cy="1371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49676" y="438912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3349676" y="4480560"/>
            <a:ext cx="2682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349676" y="516636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IA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50712" y="4389120"/>
            <a:ext cx="2682164" cy="1371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50712" y="438912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6150712" y="4480560"/>
            <a:ext cx="2682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150712" y="516636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cloud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51747" y="4389120"/>
            <a:ext cx="2682164" cy="1371600"/>
          </a:xfrm>
          <a:prstGeom prst="rect">
            <a:avLst/>
          </a:prstGeom>
          <a:solidFill>
            <a:srgbClr val="1A1F2E"/>
          </a:solidFill>
          <a:ln w="9525">
            <a:solidFill>
              <a:srgbClr val="2A30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951747" y="438912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8951747" y="4480560"/>
            <a:ext cx="26821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0,22 $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951747" y="5166360"/>
            <a:ext cx="268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campagne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14400" y="5943600"/>
            <a:ext cx="10362895" cy="548640"/>
          </a:xfrm>
          <a:prstGeom prst="rect">
            <a:avLst/>
          </a:prstGeom>
          <a:solidFill>
            <a:srgbClr val="1F1B3A"/>
          </a:solidFill>
          <a:ln w="9525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</a:t>
            </a:r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 : </a:t>
            </a:r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smartcontent-ai.streamlit.app</a:t>
            </a:r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Mémoire + GitHub + decks disponibles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SmartContent AI — Proposition de projet final (V2 SaaS)</dc:title>
  <dc:subject>PptxGenJS Presentation</dc:subject>
  <dc:creator>Serge Tsebo</dc:creator>
  <cp:lastModifiedBy>Serge Tsebo</cp:lastModifiedBy>
  <cp:revision>1</cp:revision>
  <dcterms:created xsi:type="dcterms:W3CDTF">2026-05-12T17:58:14Z</dcterms:created>
  <dcterms:modified xsi:type="dcterms:W3CDTF">2026-05-12T17:58:14Z</dcterms:modified>
</cp:coreProperties>
</file>